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93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476" y="822960"/>
            <a:ext cx="9144000" cy="2286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338328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JORNADA DE DADOS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79476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reais de IA e Dados,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construídos pela comunidade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4864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desafios  ·  1 por mês  ·  agosto a dezembro de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repositório de exercícios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repositório de portfólios em construção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46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real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947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mês, um pedido de cliente de verdade. Você faz o discovery, documenta, decide a arquitetura e constrói do zero.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246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profissional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7947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Requisitos, ADRs, qualidade automatizada e entrega via Pull Request. O mesmo fluxo de qualquer contribuição no mundo real.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21488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246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que se defende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7947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projeto é seu: você mostra em entrevista, publica no LinkedIn e defende com argumentos, porque cada decisão foi sua.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linguagem decide o que dizer. O código decide o que pode ser feito.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36192"/>
            <a:ext cx="566928" cy="566928"/>
          </a:xfrm>
          <a:prstGeom prst="ellipse">
            <a:avLst/>
          </a:prstGeom>
          <a:solidFill>
            <a:srgbClr val="0B2C5E"/>
          </a:solidFill>
          <a:ln w="15875">
            <a:solidFill>
              <a:srgbClr val="12D4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36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463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do mês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463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desafio é publicado, com o pedido do cliente e o que o projeto de engenharia precisa entregar.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566928" cy="566928"/>
          </a:xfrm>
          <a:prstGeom prst="ellipse">
            <a:avLst/>
          </a:prstGeom>
          <a:solidFill>
            <a:srgbClr val="0B2C5E"/>
          </a:solidFill>
          <a:ln w="15875">
            <a:solidFill>
              <a:srgbClr val="12D4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4871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constrói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48716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inventa o seu case, faz o discovery, documenta, decide e constrói no seu próprio repositório.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3584448"/>
            <a:ext cx="566928" cy="566928"/>
          </a:xfrm>
          <a:prstGeom prst="ellipse">
            <a:avLst/>
          </a:prstGeom>
          <a:solidFill>
            <a:srgbClr val="0B2C5E"/>
          </a:solidFill>
          <a:ln w="15875">
            <a:solidFill>
              <a:srgbClr val="12D4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584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51129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publica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511296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 o projeto e a experiência no LinkedIn e na plataforma da Jornada. Visibilidade é parte do desafio.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4608576"/>
            <a:ext cx="566928" cy="566928"/>
          </a:xfrm>
          <a:prstGeom prst="ellipse">
            <a:avLst/>
          </a:prstGeom>
          <a:solidFill>
            <a:srgbClr val="0B2C5E"/>
          </a:solidFill>
          <a:ln w="15875">
            <a:solidFill>
              <a:srgbClr val="12D4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608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53542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submete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53542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o cartão do seu projeto à galeria do mês via fork, branch e Pull Request.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1520" y="5632704"/>
            <a:ext cx="566928" cy="566928"/>
          </a:xfrm>
          <a:prstGeom prst="ellipse">
            <a:avLst/>
          </a:prstGeom>
          <a:solidFill>
            <a:srgbClr val="12D4FF"/>
          </a:solidFill>
          <a:ln w="15875">
            <a:solidFill>
              <a:srgbClr val="12D4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632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5595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comunidade reconhece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555955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comentados nas lives, destaques no vídeo de encerramento e nas redes da Jornada.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desafios, um em cada mês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a dezembro de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005ADF"/>
          </a:solidFill>
          <a:ln w="25400">
            <a:solidFill>
              <a:srgbClr val="12D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Vendas de Ponta a Ponta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12D4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7091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10312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0B2C5E"/>
          </a:solidFill>
          <a:ln w="12700">
            <a:solidFill>
              <a:srgbClr val="1640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votação com a comunidade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154680" y="470916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0E35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154680" y="47091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BREVE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210312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0B2C5E"/>
          </a:solidFill>
          <a:ln w="12700">
            <a:solidFill>
              <a:srgbClr val="1640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anunciar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40680" y="470916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0E35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40680" y="47091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BREVE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210312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0B2C5E"/>
          </a:solidFill>
          <a:ln w="12700">
            <a:solidFill>
              <a:srgbClr val="16407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2668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anunciar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26680" y="470916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0E35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26680" y="47091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BREVE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84080" y="210312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0B2C5E"/>
          </a:solidFill>
          <a:ln w="12700">
            <a:solidFill>
              <a:srgbClr val="16407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1268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0012680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anunciar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0012680" y="470916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0E356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12680" y="47091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BREVE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mês tem seu próprio README com o pedido do cliente, as entregas e as datas.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008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 b="1" kern="0" spc="4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</a:t>
            </a:r>
            <a:endParaRPr lang="pt-BR" dirty="0"/>
          </a:p>
        </p:txBody>
      </p:sp>
      <p:sp>
        <p:nvSpPr>
          <p:cNvPr id="3" name="Text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Premiação para os 5 melhores projetos</a:t>
            </a:r>
            <a:endParaRPr lang="pt-BR" dirty="0"/>
          </a:p>
        </p:txBody>
      </p:sp>
      <p:sp>
        <p:nvSpPr>
          <p:cNvPr id="4" name="Text"/>
          <p:cNvSpPr txBox="1"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9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dos destaques nas lives, no vídeo de encerramento e nas redes da Jornada.</a:t>
            </a:r>
            <a:endParaRPr lang="pt-BR" dirty="0"/>
          </a:p>
        </p:txBody>
      </p:sp>
      <p:sp>
        <p:nvSpPr>
          <p:cNvPr id="5" name="Shape"/>
          <p:cNvSpPr/>
          <p:nvPr/>
        </p:nvSpPr>
        <p:spPr>
          <a:xfrm>
            <a:off x="640080" y="2331720"/>
            <a:ext cx="5334000" cy="274320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12D4FF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914400" y="2606040"/>
            <a:ext cx="4785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500" b="1" kern="0" spc="4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LUGAR</a:t>
            </a:r>
            <a:endParaRPr lang="pt-BR" dirty="0"/>
          </a:p>
          <a:p>
            <a:pPr marL="0" indent="0">
              <a:spcAft>
                <a:spcPts val="900"/>
              </a:spcAft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de certificação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5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colocado escolhe a certificação que quiser — e a Jornada banca o voucher.</a:t>
            </a:r>
            <a:endParaRPr lang="pt-BR" dirty="0"/>
          </a:p>
        </p:txBody>
      </p:sp>
      <p:sp>
        <p:nvSpPr>
          <p:cNvPr id="7" name="Shape"/>
          <p:cNvSpPr/>
          <p:nvPr/>
        </p:nvSpPr>
        <p:spPr>
          <a:xfrm>
            <a:off x="6278880" y="2331720"/>
            <a:ext cx="5334000" cy="274320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6553200" y="2606040"/>
            <a:ext cx="4785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500" b="1" kern="0" spc="4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AO 5º LUGAR</a:t>
            </a:r>
            <a:endParaRPr lang="pt-BR" dirty="0"/>
          </a:p>
          <a:p>
            <a:pPr marL="0" indent="0">
              <a:spcAft>
                <a:spcPts val="900"/>
              </a:spcAft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Camiseta da Jornada de Dados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5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outros quatro projetos premiados levam a camiseta oficial da comunidade.</a:t>
            </a:r>
            <a:endParaRPr lang="pt-BR" dirty="0"/>
          </a:p>
        </p:txBody>
      </p:sp>
      <p:sp>
        <p:nvSpPr>
          <p:cNvPr id="9" name="Text"/>
          <p:cNvSpPr txBox="1"/>
          <p:nvPr/>
        </p:nvSpPr>
        <p:spPr>
          <a:xfrm>
            <a:off x="640080" y="53035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i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relembrar: um discovery bem documentado, com PRD e ADRs sólidos, já é uma entrega valiosa — e concorre.</a:t>
            </a:r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· DESAFIO ABERTO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Vendas de Ponta a Ponta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“Preciso de um presente pra minha sogra, que ama vinho tinto.”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e categoria não resolvem essa frase. É por isso que existe um agente.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0B2C5E"/>
          </a:solidFill>
          <a:ln w="12700">
            <a:solidFill>
              <a:srgbClr val="007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154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cliente quer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0332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por necessidade, não por filtro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Preço, estoque e prazo sempre iguais ao banco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a venda de ponta a ponta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humana em tudo que é irreversível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292608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3154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cliente teme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70332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Alucinação de produto, preço ou atributo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conversacional (desconto na lábia)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fiscal emitido sem revisão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Mágica sem rastro: tudo precisa de trace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pedidos é um requisito de engenharia. Traduzir é o trabalho.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kern="0" spc="6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DE AGOSTO · PROJETO ENTREGUE</a:t>
            </a:r>
            <a:endParaRPr lang="pt-BR" dirty="0"/>
          </a:p>
        </p:txBody>
      </p:sp>
      <p:sp>
        <p:nvSpPr>
          <p:cNvPr id="3" name="Text"/>
          <p:cNvSpPr txBox="1"/>
          <p:nvPr/>
        </p:nvSpPr>
        <p:spPr>
          <a:xfrm>
            <a:off x="640080" y="20116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Vendinha do Jornada</a:t>
            </a:r>
            <a:endParaRPr lang="pt-BR" dirty="0"/>
          </a:p>
          <a:p>
            <a:pPr marL="0" indent="0" algn="ctr">
              <a:buNone/>
            </a:pPr>
            <a:r>
              <a:rPr lang="pt-BR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pediu, o que construímos</a:t>
            </a:r>
            <a:endParaRPr lang="pt-BR" dirty="0"/>
          </a:p>
        </p:txBody>
      </p:sp>
      <p:sp>
        <p:nvSpPr>
          <p:cNvPr id="4" name="Text"/>
          <p:cNvSpPr txBox="1"/>
          <p:nvPr/>
        </p:nvSpPr>
        <p:spPr>
          <a:xfrm>
            <a:off x="640080" y="370332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pt-BR" sz="1700" i="1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“Café da manhã pra 40 pessoas, R$35 por cabeça, tem uma pessoa celíaca no time, e precisa chegar antes de quinta.”</a:t>
            </a:r>
            <a:endParaRPr lang="pt-BR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pt-BR" sz="1700" i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e categoria não resolvem essa frase. O atendente da Vendinha resolve.</a:t>
            </a:r>
            <a:endParaRPr lang="pt-BR" dirty="0"/>
          </a:p>
        </p:txBody>
      </p:sp>
      <p:sp>
        <p:nvSpPr>
          <p:cNvPr id="5" name="Text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kern="0" spc="2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atendente decide o que dizer  ·  o sistema decide o que pode ser feito</a:t>
            </a:r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008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 b="1" kern="0" spc="4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</a:t>
            </a:r>
            <a:endParaRPr lang="pt-BR" dirty="0"/>
          </a:p>
        </p:txBody>
      </p:sp>
      <p:sp>
        <p:nvSpPr>
          <p:cNvPr id="3" name="Text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entende o evento e monta a cesta completa</a:t>
            </a:r>
            <a:endParaRPr lang="pt-BR" dirty="0"/>
          </a:p>
        </p:txBody>
      </p:sp>
      <p:sp>
        <p:nvSpPr>
          <p:cNvPr id="4" name="Shape"/>
          <p:cNvSpPr/>
          <p:nvPr/>
        </p:nvSpPr>
        <p:spPr>
          <a:xfrm>
            <a:off x="640080" y="2148840"/>
            <a:ext cx="5334000" cy="320040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914400" y="2423160"/>
            <a:ext cx="4785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500" b="1" kern="0" spc="3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pediu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600" i="1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“Um atendimento que converse de verdade, que entenda o que o cliente precisa mesmo quando ele não sabe explicar direito.”</a:t>
            </a:r>
            <a:endParaRPr lang="pt-BR" dirty="0"/>
          </a:p>
        </p:txBody>
      </p:sp>
      <p:sp>
        <p:nvSpPr>
          <p:cNvPr id="6" name="Shape"/>
          <p:cNvSpPr/>
          <p:nvPr/>
        </p:nvSpPr>
        <p:spPr>
          <a:xfrm>
            <a:off x="6278880" y="2148840"/>
            <a:ext cx="5334000" cy="320040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35E0A1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6553200" y="2423160"/>
            <a:ext cx="4785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500" b="1" kern="0" spc="30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existe hoje</a:t>
            </a:r>
            <a:endParaRPr lang="pt-BR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atendente virtual que investiga antes de sugerir: que evento é, quantas pessoas, quanto por pessoa, restrições alimentares, para quando.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monta a cesta completa do evento — não uma lista de produtos soltos.</a:t>
            </a:r>
            <a:endParaRPr lang="pt-BR" dirty="0"/>
          </a:p>
        </p:txBody>
      </p:sp>
      <p:sp>
        <p:nvSpPr>
          <p:cNvPr id="8" name="Text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i="1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conversa com ele é quem organiza o evento na empresa — e ela também não sabe traduzir o time em filtros.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008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 b="1" kern="0" spc="4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MEDO Nº 1</a:t>
            </a:r>
            <a:endParaRPr lang="pt-BR" dirty="0"/>
          </a:p>
        </p:txBody>
      </p:sp>
      <p:sp>
        <p:nvSpPr>
          <p:cNvPr id="3" name="Text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não inventa: cada fato tem uma ferramenta</a:t>
            </a:r>
            <a:endParaRPr lang="pt-BR" dirty="0"/>
          </a:p>
        </p:txBody>
      </p:sp>
      <p:sp>
        <p:nvSpPr>
          <p:cNvPr id="4" name="Text"/>
          <p:cNvSpPr txBox="1"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9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“Tenho medo de o robô inventar coisas sobre os meus produtos.”</a:t>
            </a:r>
            <a:endParaRPr lang="pt-BR" dirty="0"/>
          </a:p>
        </p:txBody>
      </p:sp>
      <p:sp>
        <p:nvSpPr>
          <p:cNvPr id="5" name="Shape"/>
          <p:cNvSpPr/>
          <p:nvPr/>
        </p:nvSpPr>
        <p:spPr>
          <a:xfrm>
            <a:off x="640080" y="2331720"/>
            <a:ext cx="3520440" cy="292608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914400" y="26060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7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buscar_produtos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no catálogo o que combina com o pedido do evento. Só devolve o que existe.</a:t>
            </a:r>
            <a:endParaRPr lang="pt-BR" dirty="0"/>
          </a:p>
        </p:txBody>
      </p:sp>
      <p:sp>
        <p:nvSpPr>
          <p:cNvPr id="7" name="Shape"/>
          <p:cNvSpPr/>
          <p:nvPr/>
        </p:nvSpPr>
        <p:spPr>
          <a:xfrm>
            <a:off x="4366260" y="2331720"/>
            <a:ext cx="3520440" cy="292608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4640580" y="26060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7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detalhar_produto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ingredientes, alérgenos e prazo direto do cadastro do item. Nada de memória.</a:t>
            </a:r>
            <a:endParaRPr lang="pt-BR" dirty="0"/>
          </a:p>
        </p:txBody>
      </p:sp>
      <p:sp>
        <p:nvSpPr>
          <p:cNvPr id="9" name="Shape"/>
          <p:cNvSpPr/>
          <p:nvPr/>
        </p:nvSpPr>
        <p:spPr>
          <a:xfrm>
            <a:off x="8092440" y="2331720"/>
            <a:ext cx="3520440" cy="292608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8366760" y="26060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7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consultar_preco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preço do banco na hora da conversa — e de novo na hora de fechar o pedido.</a:t>
            </a:r>
            <a:endParaRPr lang="pt-BR" dirty="0"/>
          </a:p>
        </p:txBody>
      </p:sp>
      <p:sp>
        <p:nvSpPr>
          <p:cNvPr id="11" name="Text"/>
          <p:cNvSpPr txBox="1"/>
          <p:nvPr/>
        </p:nvSpPr>
        <p:spPr>
          <a:xfrm>
            <a:off x="640080" y="5486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pt-BR" sz="15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ele não encontra, ele diz que não encontrou. E se em qualquer teste ele cita um fato que não veio dessas ferramentas, a atualização inteira é barrada.</a:t>
            </a: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008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 b="1" kern="0" spc="4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CENA MAIS IMPORTANTE</a:t>
            </a:r>
            <a:endParaRPr lang="pt-BR" dirty="0"/>
          </a:p>
        </p:txBody>
      </p:sp>
      <p:sp>
        <p:nvSpPr>
          <p:cNvPr id="3" name="Text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nunca é do robô</a:t>
            </a:r>
            <a:endParaRPr lang="pt-BR" dirty="0"/>
          </a:p>
        </p:txBody>
      </p:sp>
      <p:sp>
        <p:nvSpPr>
          <p:cNvPr id="4" name="Shape"/>
          <p:cNvSpPr/>
          <p:nvPr/>
        </p:nvSpPr>
        <p:spPr>
          <a:xfrm>
            <a:off x="640080" y="2057400"/>
            <a:ext cx="3520440" cy="274320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9144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0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dirty="0"/>
          </a:p>
        </p:txBody>
      </p:sp>
      <p:sp>
        <p:nvSpPr>
          <p:cNvPr id="6" name="Text"/>
          <p:cNvSpPr txBox="1"/>
          <p:nvPr/>
        </p:nvSpPr>
        <p:spPr>
          <a:xfrm>
            <a:off x="914400" y="32461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atendente propõe</a:t>
            </a:r>
            <a:endParaRPr lang="pt-BR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14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cesta para o café da manhã de 40 pessoas, escolhida pelo que combina com o time.</a:t>
            </a:r>
            <a:endParaRPr lang="pt-BR" dirty="0"/>
          </a:p>
        </p:txBody>
      </p:sp>
      <p:sp>
        <p:nvSpPr>
          <p:cNvPr id="7" name="Shape"/>
          <p:cNvSpPr/>
          <p:nvPr/>
        </p:nvSpPr>
        <p:spPr>
          <a:xfrm>
            <a:off x="4366260" y="2057400"/>
            <a:ext cx="3520440" cy="274320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464058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0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dirty="0"/>
          </a:p>
        </p:txBody>
      </p:sp>
      <p:sp>
        <p:nvSpPr>
          <p:cNvPr id="9" name="Text"/>
          <p:cNvSpPr txBox="1"/>
          <p:nvPr/>
        </p:nvSpPr>
        <p:spPr>
          <a:xfrm>
            <a:off x="4640580" y="32461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validar_composicao confere</a:t>
            </a:r>
            <a:endParaRPr lang="pt-BR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14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“R$163 por pessoa — o teto é R$150. E faltou bebida quente.” Recusado, com motivo.</a:t>
            </a:r>
            <a:endParaRPr lang="pt-BR" dirty="0"/>
          </a:p>
        </p:txBody>
      </p:sp>
      <p:sp>
        <p:nvSpPr>
          <p:cNvPr id="10" name="Shape"/>
          <p:cNvSpPr/>
          <p:nvPr/>
        </p:nvSpPr>
        <p:spPr>
          <a:xfrm>
            <a:off x="8092440" y="2057400"/>
            <a:ext cx="3520440" cy="274320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836676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0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dirty="0"/>
          </a:p>
        </p:txBody>
      </p:sp>
      <p:sp>
        <p:nvSpPr>
          <p:cNvPr id="12" name="Text"/>
          <p:cNvSpPr txBox="1"/>
          <p:nvPr/>
        </p:nvSpPr>
        <p:spPr>
          <a:xfrm>
            <a:off x="8366760" y="32461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criar_pedido revalida</a:t>
            </a:r>
            <a:endParaRPr lang="pt-BR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14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hora de fechar, a mesma conferência roda de novo no servidor. A validação que autoriza nunca é a que passou pela conversa.</a:t>
            </a:r>
            <a:endParaRPr lang="pt-BR" dirty="0"/>
          </a:p>
        </p:txBody>
      </p:sp>
      <p:sp>
        <p:nvSpPr>
          <p:cNvPr id="13" name="Text"/>
          <p:cNvSpPr txBox="1"/>
          <p:nvPr/>
        </p:nvSpPr>
        <p:spPr>
          <a:xfrm>
            <a:off x="640080" y="50292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pt-BR" sz="15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Orçamento, quantidades e restrição alimentar são conferidos por regra de sistema, item a item, contra o banco.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cesta que estoura o teto ou inclui glúten para um celíaco nunca chega ao seu cliente como válida.</a:t>
            </a:r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008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 b="1" kern="0" spc="4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VENDA</a:t>
            </a:r>
            <a:endParaRPr lang="pt-BR" dirty="0"/>
          </a:p>
        </p:txBody>
      </p:sp>
      <p:sp>
        <p:nvSpPr>
          <p:cNvPr id="3" name="Text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engana o robô — e a venda vai até o fim</a:t>
            </a:r>
            <a:endParaRPr lang="pt-BR" dirty="0"/>
          </a:p>
        </p:txBody>
      </p:sp>
      <p:sp>
        <p:nvSpPr>
          <p:cNvPr id="4" name="Shape"/>
          <p:cNvSpPr/>
          <p:nvPr/>
        </p:nvSpPr>
        <p:spPr>
          <a:xfrm>
            <a:off x="640080" y="2148840"/>
            <a:ext cx="5334000" cy="320040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914400" y="2423160"/>
            <a:ext cx="4785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500" b="1" kern="0" spc="1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“Alguém espertinho enganar o robô”</a:t>
            </a:r>
            <a:endParaRPr lang="pt-BR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atendente só executa o que está numa lista fechada de ações permitidas. Dar desconto não está na lista: ele não tem o botão.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5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com bateria de ataques simulados — a exigência é resistir a 100% deles.</a:t>
            </a:r>
            <a:endParaRPr lang="pt-BR" dirty="0"/>
          </a:p>
        </p:txBody>
      </p:sp>
      <p:sp>
        <p:nvSpPr>
          <p:cNvPr id="6" name="Shape"/>
          <p:cNvSpPr/>
          <p:nvPr/>
        </p:nvSpPr>
        <p:spPr>
          <a:xfrm>
            <a:off x="6278880" y="2148840"/>
            <a:ext cx="5334000" cy="320040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6553200" y="2423160"/>
            <a:ext cx="4785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500" b="1" kern="0" spc="1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 a conversa chegue até o final”</a:t>
            </a:r>
            <a:endParaRPr lang="pt-BR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aprovou a cesta? O atendimento coleta os dados da empresa (CNPJ, razão social, endereço), registra o pedido com preços do banco e entrega o link de pagamento na conversa.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50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ambiente de teste — nenhum dinheiro de verdade circula nesta versão.</a:t>
            </a:r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008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 b="1" kern="0" spc="4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IRREVERSÍVEL</a:t>
            </a:r>
            <a:endParaRPr lang="pt-BR" dirty="0"/>
          </a:p>
        </p:txBody>
      </p:sp>
      <p:sp>
        <p:nvSpPr>
          <p:cNvPr id="3" name="Text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fiscal só sai com gente aprovando</a:t>
            </a:r>
            <a:endParaRPr lang="pt-BR" dirty="0"/>
          </a:p>
        </p:txBody>
      </p:sp>
      <p:sp>
        <p:nvSpPr>
          <p:cNvPr id="4" name="Text"/>
          <p:cNvSpPr txBox="1"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9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“Tenho medo de sair documento importante sem ninguém da minha equipe ter olhado antes.”</a:t>
            </a:r>
            <a:endParaRPr lang="pt-BR" dirty="0"/>
          </a:p>
        </p:txBody>
      </p:sp>
      <p:sp>
        <p:nvSpPr>
          <p:cNvPr id="5" name="Shape"/>
          <p:cNvSpPr/>
          <p:nvPr/>
        </p:nvSpPr>
        <p:spPr>
          <a:xfrm>
            <a:off x="640080" y="2331720"/>
            <a:ext cx="5334000" cy="256032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35E0A1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914400" y="2606040"/>
            <a:ext cx="478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500" b="1" kern="0" spc="30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 no circuito (HITL)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emitir a nota, o sistema para e espera. O pedido entra numa fila, alguém da sua equipe revisa e aprova ou rejeita — e fica registrado quem decidiu e quando.</a:t>
            </a:r>
            <a:endParaRPr lang="pt-BR" dirty="0"/>
          </a:p>
        </p:txBody>
      </p:sp>
      <p:sp>
        <p:nvSpPr>
          <p:cNvPr id="7" name="Shape"/>
          <p:cNvSpPr/>
          <p:nvPr/>
        </p:nvSpPr>
        <p:spPr>
          <a:xfrm>
            <a:off x="6278880" y="2331720"/>
            <a:ext cx="5334000" cy="256032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35E0A1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6553200" y="2606040"/>
            <a:ext cx="478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500" b="1" kern="0" spc="30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por construção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promessa: existe um teste automático que verifica, a cada mudança, que não há caminho até uma nota sem aprovação registrada.</a:t>
            </a:r>
            <a:endParaRPr lang="pt-BR" dirty="0"/>
          </a:p>
        </p:txBody>
      </p:sp>
      <p:sp>
        <p:nvSpPr>
          <p:cNvPr id="9" name="Text"/>
          <p:cNvSpPr txBox="1"/>
          <p:nvPr/>
        </p:nvSpPr>
        <p:spPr>
          <a:xfrm>
            <a:off x="640080" y="51206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pt-BR" sz="140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sai no CNPJ da empresa, fiel ao modelo oficial da NF-e. Nesta versão, como combinado, é uma simulação com a tarja “SEM VALOR FISCAL” — a emissão oficial tem o caminho preparado, para quando você decidir ligar.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008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 b="1" kern="0" spc="4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pt-BR" dirty="0"/>
          </a:p>
        </p:txBody>
      </p:sp>
      <p:sp>
        <p:nvSpPr>
          <p:cNvPr id="3" name="Text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funciona por mágica</a:t>
            </a:r>
            <a:endParaRPr lang="pt-BR" dirty="0"/>
          </a:p>
        </p:txBody>
      </p:sp>
      <p:sp>
        <p:nvSpPr>
          <p:cNvPr id="4" name="Shape"/>
          <p:cNvSpPr/>
          <p:nvPr/>
        </p:nvSpPr>
        <p:spPr>
          <a:xfrm>
            <a:off x="640080" y="2057400"/>
            <a:ext cx="3520440" cy="329184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914400" y="233172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6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completo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atendimento fica registrado: o que foi dito, que consultas o atendente fez, quanto levou, quanto custou. Você tem um painel próprio para acompanhar e revisar.</a:t>
            </a:r>
            <a:endParaRPr lang="pt-BR" dirty="0"/>
          </a:p>
        </p:txBody>
      </p:sp>
      <p:sp>
        <p:nvSpPr>
          <p:cNvPr id="6" name="Shape"/>
          <p:cNvSpPr/>
          <p:nvPr/>
        </p:nvSpPr>
        <p:spPr>
          <a:xfrm>
            <a:off x="4366260" y="2057400"/>
            <a:ext cx="3520440" cy="329184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4640580" y="233172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6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com teto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atendimento tem um limite de gasto: chegou nele, o sistema corta. O custo de cada conversa aparece no painel — centavos visíveis, não fatura surpresa.</a:t>
            </a:r>
            <a:endParaRPr lang="pt-BR" dirty="0"/>
          </a:p>
        </p:txBody>
      </p:sp>
      <p:sp>
        <p:nvSpPr>
          <p:cNvPr id="8" name="Shape"/>
          <p:cNvSpPr/>
          <p:nvPr/>
        </p:nvSpPr>
        <p:spPr>
          <a:xfrm>
            <a:off x="8092440" y="2057400"/>
            <a:ext cx="3520440" cy="329184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8366760" y="233172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600" b="1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protegidos</a:t>
            </a:r>
            <a:endParaRPr lang="pt-BR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CPF, CNPJ e e-mail são mascarados na origem, antes de qualquer registro sair do sistema. Se um dado pessoal aparecer legível num registro, a versão não sai.</a:t>
            </a:r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008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 b="1" kern="0" spc="4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A PONTO</a:t>
            </a:r>
            <a:endParaRPr lang="pt-BR" dirty="0"/>
          </a:p>
        </p:txBody>
      </p:sp>
      <p:sp>
        <p:nvSpPr>
          <p:cNvPr id="3" name="Text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oito pedidos, os seis medos</a:t>
            </a:r>
            <a:endParaRPr lang="pt-BR" dirty="0"/>
          </a:p>
        </p:txBody>
      </p:sp>
      <p:sp>
        <p:nvSpPr>
          <p:cNvPr id="4" name="Shape"/>
          <p:cNvSpPr/>
          <p:nvPr/>
        </p:nvSpPr>
        <p:spPr>
          <a:xfrm>
            <a:off x="640080" y="2057400"/>
            <a:ext cx="5334000" cy="338328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005ADF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914400" y="2331720"/>
            <a:ext cx="4785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500" b="1" kern="0" spc="3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quis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 pelo que o cliente precisa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estoque sempre do banco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que fecha a venda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humana no irreversível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atendimento auditável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visível e com teto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clientes protegidos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equipe coloca para rodar</a:t>
            </a:r>
            <a:endParaRPr lang="pt-BR" dirty="0"/>
          </a:p>
        </p:txBody>
      </p:sp>
      <p:sp>
        <p:nvSpPr>
          <p:cNvPr id="6" name="Shape"/>
          <p:cNvSpPr/>
          <p:nvPr/>
        </p:nvSpPr>
        <p:spPr>
          <a:xfrm>
            <a:off x="6278880" y="2057400"/>
            <a:ext cx="5334000" cy="3383280"/>
          </a:xfrm>
          <a:prstGeom prst="roundRect">
            <a:avLst>
              <a:gd name="adj" fmla="val 2432"/>
            </a:avLst>
          </a:prstGeom>
          <a:solidFill>
            <a:srgbClr val="0B2C5E"/>
          </a:solidFill>
          <a:ln w="12700">
            <a:solidFill>
              <a:srgbClr val="35E0A1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6553200" y="2331720"/>
            <a:ext cx="4785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500" b="1" kern="0" spc="300" dirty="0">
                <a:solidFill>
                  <a:srgbClr val="12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temeu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inventa — barrado por teste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cai em conversa de espertinho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só sai com gente aprovando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funciona “por mágica”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de IA sob controle</a:t>
            </a:r>
            <a:endParaRPr lang="pt-BR" dirty="0"/>
          </a:p>
          <a:p>
            <a:pPr marL="0" indent="0">
              <a:spcAft>
                <a:spcPts val="700"/>
              </a:spcAft>
              <a:buNone/>
            </a:pPr>
            <a:r>
              <a:rPr lang="pt-BR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pt-B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dado vazando pelos cantos</a:t>
            </a:r>
            <a:endParaRPr lang="pt-BR" dirty="0"/>
          </a:p>
        </p:txBody>
      </p:sp>
      <p:sp>
        <p:nvSpPr>
          <p:cNvPr id="8" name="Text"/>
          <p:cNvSpPr txBox="1"/>
          <p:nvPr/>
        </p:nvSpPr>
        <p:spPr>
          <a:xfrm>
            <a:off x="640080" y="56692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i="1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 é do atendente. A conta, o corte e o documento são do sistema. E a palavra final continua sendo da sua equipe.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1469</Words>
  <Application>Microsoft Office PowerPoint</Application>
  <PresentationFormat>Widescreen</PresentationFormat>
  <Paragraphs>160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Caio Machado de Oliveira</cp:lastModifiedBy>
  <cp:revision>2</cp:revision>
  <dcterms:created xsi:type="dcterms:W3CDTF">2026-08-26T22:11:26Z</dcterms:created>
  <dcterms:modified xsi:type="dcterms:W3CDTF">2026-08-29T11:51:38Z</dcterms:modified>
</cp:coreProperties>
</file>